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3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3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%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Pants</c:v>
                  </c:pt>
                  <c:pt idx="1">
                    <c:v>Sweater</c:v>
                  </c:pt>
                  <c:pt idx="2">
                    <c:v>Coat</c:v>
                  </c:pt>
                  <c:pt idx="3">
                    <c:v>Sneakers</c:v>
                  </c:pt>
                  <c:pt idx="4">
                    <c:v>Hat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47.37</c:v>
                </c:pt>
                <c:pt idx="1">
                  <c:v>48.17</c:v>
                </c:pt>
                <c:pt idx="2">
                  <c:v>49.07</c:v>
                </c:pt>
                <c:pt idx="3">
                  <c:v>49.66</c:v>
                </c:pt>
                <c:pt idx="4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3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C2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3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C2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Subscribed</c:v>
                  </c:pt>
                  <c:pt idx="1">
                    <c:v>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2518</c:v>
                </c:pt>
                <c:pt idx="1">
                  <c:v>958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3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C2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3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3,900 transactions into insights on spending, segments, and subscription behavior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 •  SQL (PostgreSQL)  •  Power BI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434840"/>
          </a:xfrm>
          <a:prstGeom prst="roundRect">
            <a:avLst>
              <a:gd name="adj" fmla="val 1649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6126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customer shopping behavior using transactional data from 3,900 purchases across multiple product categories. The goal: uncover insights into spending patterns, customer segments, product preferences, and subscription behavior to guide strategic business decisions.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547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Explore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8130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data prep, EDA, and feature engineering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142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Analyze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4074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structured business-question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8006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736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Recommend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0017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and strategic recommendations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15544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3090672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32278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867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 tracked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4626864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0" y="47640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4041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2F8F7"/>
          </a:solidFill>
          <a:ln/>
        </p:spPr>
      </p:sp>
      <p:sp>
        <p:nvSpPr>
          <p:cNvPr id="9" name="Shape 7"/>
          <p:cNvSpPr/>
          <p:nvPr/>
        </p:nvSpPr>
        <p:spPr>
          <a:xfrm>
            <a:off x="4636008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6008" y="2423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83464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Season, Size, Color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66176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2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494776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94776" y="2423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94776" y="283464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Used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Review Rating, Shipping Type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257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120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Note:  </a:t>
            </a:r>
            <a:pPr indent="0" marL="0"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values were found in the Review Rating column and imputed using the median rating for each product category.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Pipeline (Python)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585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603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with pandas; used df.info() and .describe() to profile structure and stats.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2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1783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2585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5603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missing Review Rating values using each category's median rating.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2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1783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2585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5603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to snake_case for readability and consistent documentation.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2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6118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0873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3891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(binned ages) and purchase_frequency_days.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43400" y="34290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2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44568" y="36118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4456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44568" y="40873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Consistency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43891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discount_applied and promo_code_used were redundant; dropped the latter.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38160" y="34290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2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9328" y="36118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0873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Database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43891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PostgreSQL and loaded the cleaned data for SQL analysis.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more than double the revenue of female customers in this dataset.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6002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$157,890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 revenue  —  67.7% of total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3291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2F8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3429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$75,191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 revenue  —  32.3% of total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49834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4E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8120" y="51023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consider gender-targeted campaigns and investigate category mix driving the gap.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Behavior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839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used a discount and still spent above the average purchase amount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9718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high-value shoppers — discounts aren't purely cannibalizing full-price sales.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5544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Discount-Dependent Products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206240" y="1965960"/>
          <a:ext cx="7406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Top-Rated Products &amp; Shipping Preferences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Average Rating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035040" cy="621792"/>
          </a:xfrm>
          <a:prstGeom prst="roundRect">
            <a:avLst>
              <a:gd name="adj" fmla="val 8824"/>
            </a:avLst>
          </a:prstGeom>
          <a:solidFill>
            <a:srgbClr val="F2F8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2167128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E3F0EF"/>
          </a:solidFill>
          <a:ln/>
        </p:spPr>
      </p:sp>
      <p:sp>
        <p:nvSpPr>
          <p:cNvPr id="8" name="Shape 6"/>
          <p:cNvSpPr/>
          <p:nvPr/>
        </p:nvSpPr>
        <p:spPr>
          <a:xfrm>
            <a:off x="3794760" y="2167128"/>
            <a:ext cx="1316736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15000" y="196596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6035040" cy="621792"/>
          </a:xfrm>
          <a:prstGeom prst="roundRect">
            <a:avLst>
              <a:gd name="adj" fmla="val 8824"/>
            </a:avLst>
          </a:prstGeom>
          <a:solidFill>
            <a:srgbClr val="F2F8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2491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94760" y="292608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E3F0EF"/>
          </a:solidFill>
          <a:ln/>
        </p:spPr>
      </p:sp>
      <p:sp>
        <p:nvSpPr>
          <p:cNvPr id="13" name="Shape 11"/>
          <p:cNvSpPr/>
          <p:nvPr/>
        </p:nvSpPr>
        <p:spPr>
          <a:xfrm>
            <a:off x="3794760" y="2926080"/>
            <a:ext cx="1243584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272491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6035040" cy="621792"/>
          </a:xfrm>
          <a:prstGeom prst="roundRect">
            <a:avLst>
              <a:gd name="adj" fmla="val 8824"/>
            </a:avLst>
          </a:prstGeom>
          <a:solidFill>
            <a:srgbClr val="F2F8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8386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94760" y="3685032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E3F0EF"/>
          </a:solidFill>
          <a:ln/>
        </p:spPr>
      </p:sp>
      <p:sp>
        <p:nvSpPr>
          <p:cNvPr id="18" name="Shape 16"/>
          <p:cNvSpPr/>
          <p:nvPr/>
        </p:nvSpPr>
        <p:spPr>
          <a:xfrm>
            <a:off x="3794760" y="3685032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348386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42816"/>
            <a:ext cx="6035040" cy="621792"/>
          </a:xfrm>
          <a:prstGeom prst="roundRect">
            <a:avLst>
              <a:gd name="adj" fmla="val 8824"/>
            </a:avLst>
          </a:prstGeom>
          <a:solidFill>
            <a:srgbClr val="F2F8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428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94760" y="444398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E3F0EF"/>
          </a:solidFill>
          <a:ln/>
        </p:spPr>
      </p:sp>
      <p:sp>
        <p:nvSpPr>
          <p:cNvPr id="23" name="Shape 21"/>
          <p:cNvSpPr/>
          <p:nvPr/>
        </p:nvSpPr>
        <p:spPr>
          <a:xfrm>
            <a:off x="3794760" y="4443984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15000" y="424281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001768"/>
            <a:ext cx="6035040" cy="621792"/>
          </a:xfrm>
          <a:prstGeom prst="roundRect">
            <a:avLst>
              <a:gd name="adj" fmla="val 8824"/>
            </a:avLst>
          </a:prstGeom>
          <a:solidFill>
            <a:srgbClr val="F2F8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001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94760" y="5202936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E3F0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794760" y="5202936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15000" y="500176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by Shipping Type</a:t>
            </a:r>
            <a:endParaRPr lang="en-US" sz="14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858000" y="192024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6858000" y="45720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086600" y="4709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customers spend ~3.5% more on average — a signal that faster delivery correlates with higher-value baskets.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 vs. Non-Subscribers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 avg spend  •  $62,645 total revenue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2,847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108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 avg spend  •  $170,436 total revenue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2F8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348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per customer is nearly identical between subscribers and non-subscribers (~$59.50–$59.90). Subscribers make up just 27% of the customer base, so the subscription program's main opportunity is growing enrollment — not increasing per-customer spend among existing subscribers.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were classified into New, Returning, and Loyal segments based on purchase history.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23317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516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3,116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9392" y="20574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8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582412" y="23317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82412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3611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279392" y="4251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79392" y="4617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0144" y="20574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3164" y="23317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13164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10144" y="3611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010144" y="4251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10144" y="4617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80% of customers already qualify as "Loyal" — the opportunity lies in converting the smaller New and Returning segments.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Best-Selling Products by Category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272491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700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443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216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7316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047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9856" y="160020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3419856" y="1600200"/>
            <a:ext cx="272491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19856" y="16002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0273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602736" y="26700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02736" y="29443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02736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02736" y="37216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602736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orders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602736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602736" y="477316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602736" y="5047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orders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91072" y="160020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8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291072" y="1600200"/>
            <a:ext cx="272491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91072" y="16002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73952" y="26700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29443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orders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7395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37216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73952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orders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73952" y="477316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5047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orders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62288" y="160020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2F8F7"/>
          </a:solidFill>
          <a:ln/>
        </p:spPr>
      </p:sp>
      <p:sp>
        <p:nvSpPr>
          <p:cNvPr id="41" name="Shape 39"/>
          <p:cNvSpPr/>
          <p:nvPr/>
        </p:nvSpPr>
        <p:spPr>
          <a:xfrm>
            <a:off x="9162288" y="1600200"/>
            <a:ext cx="272491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162288" y="16002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34516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9345168" y="26700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345168" y="29443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orders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9345168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9345168" y="37216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345168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orders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Buyers &amp; Revenue by Age Group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(&gt;5 purchases) &amp; Subscription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192024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was built to present insights visually, with filters for subscription status, gender, category, and shipping type.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Customers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057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0574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Share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 included: Revenue &amp; Sales by Category, Revenue &amp; Sales by Age Group, and % of Customers by Subscription Status — all filterable in real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2F8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7091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customers are not currently subscribed — the clearest lever available for recurring revenue growth identified across the entire analysis.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8036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benefits for subscribers to grow the 27% subscriber 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1104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2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62272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227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3774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88036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move Returning and New segments into Loyal status.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2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174736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747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74736" y="23774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88036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sales boosts against margin control on discount-dependent products.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2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069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5720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0749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 and best-selling products (Jewelry, Blouse, Sandals, Jacket) in campaigns.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61104" y="38862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2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462272" y="4069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6227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62272" y="45720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50749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efforts on high-revenue age groups (Young Adult) and Express-shipping users.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Python  •  SQL  •  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2026-09-17T04:54:47Z</dcterms:created>
  <dcterms:modified xsi:type="dcterms:W3CDTF">2026-09-17T04:54:47Z</dcterms:modified>
</cp:coreProperties>
</file>